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060704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F2933"/>
                </a:solidFill>
                <a:latin typeface="Microsoft YaHei"/>
              </a:rPr>
              <a:t>智能 TodoLife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1051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F6F63"/>
                </a:solidFill>
                <a:latin typeface="Microsoft YaHei"/>
              </a:rPr>
              <a:t>认知负荷驱动的个人任务管理应用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340864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从记录任务升级为理解任务、安排任务、执行任务、复盘任务。产品重点不是创建更多事项，而是降低选择成本，把当下最该做的事推到用户面前。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3493008"/>
            <a:ext cx="1417320" cy="310896"/>
          </a:xfrm>
          <a:prstGeom prst="roundRect">
            <a:avLst/>
          </a:prstGeom>
          <a:solidFill>
            <a:srgbClr val="E9F5F0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F63"/>
                </a:solidFill>
                <a:latin typeface="Microsoft YaHei"/>
              </a:rPr>
              <a:t>Jetpack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493008"/>
            <a:ext cx="1115568" cy="310896"/>
          </a:xfrm>
          <a:prstGeom prst="roundRect">
            <a:avLst/>
          </a:prstGeom>
          <a:solidFill>
            <a:srgbClr val="ECF1FA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D65A8"/>
                </a:solidFill>
                <a:latin typeface="Microsoft YaHei"/>
              </a:rPr>
              <a:t>认知负荷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493008"/>
            <a:ext cx="1115568" cy="310896"/>
          </a:xfrm>
          <a:prstGeom prst="roundRect">
            <a:avLst/>
          </a:prstGeom>
          <a:solidFill>
            <a:srgbClr val="FEF4E4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Microsoft YaHei"/>
              </a:rPr>
              <a:t>智能排程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713232"/>
            <a:ext cx="2423160" cy="5212080"/>
          </a:xfrm>
          <a:prstGeom prst="round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34072" y="822960"/>
            <a:ext cx="2276856" cy="4992624"/>
          </a:xfrm>
          <a:prstGeom prst="roundRect">
            <a:avLst/>
          </a:prstGeom>
          <a:solidFill>
            <a:srgbClr val="FB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2088" y="969264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智能 TodoLife</a:t>
            </a:r>
          </a:p>
        </p:txBody>
      </p:sp>
      <p:sp>
        <p:nvSpPr>
          <p:cNvPr id="12" name="Oval 11"/>
          <p:cNvSpPr/>
          <p:nvPr/>
        </p:nvSpPr>
        <p:spPr>
          <a:xfrm>
            <a:off x="7720584" y="1362456"/>
            <a:ext cx="393192" cy="393192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7738872" y="1380744"/>
            <a:ext cx="356616" cy="356616"/>
          </a:xfrm>
          <a:prstGeom prst="arc">
            <a:avLst>
              <a:gd name="adj1" fmla="val -9000000"/>
              <a:gd name="adj2" fmla="val 15400000"/>
            </a:avLst>
          </a:prstGeom>
          <a:noFill/>
          <a:ln w="3048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0311" y="1496141"/>
            <a:ext cx="1737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0584" y="1810512"/>
            <a:ext cx="39319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完成</a:t>
            </a:r>
          </a:p>
        </p:txBody>
      </p:sp>
      <p:sp>
        <p:nvSpPr>
          <p:cNvPr id="16" name="Oval 15"/>
          <p:cNvSpPr/>
          <p:nvPr/>
        </p:nvSpPr>
        <p:spPr>
          <a:xfrm>
            <a:off x="8375904" y="1362456"/>
            <a:ext cx="393192" cy="393192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8394192" y="1380744"/>
            <a:ext cx="356616" cy="356616"/>
          </a:xfrm>
          <a:prstGeom prst="arc">
            <a:avLst>
              <a:gd name="adj1" fmla="val -9000000"/>
              <a:gd name="adj2" fmla="val 16900000"/>
            </a:avLst>
          </a:prstGeom>
          <a:noFill/>
          <a:ln w="3048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496141"/>
            <a:ext cx="1737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810512"/>
            <a:ext cx="39319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专注</a:t>
            </a:r>
          </a:p>
        </p:txBody>
      </p:sp>
      <p:sp>
        <p:nvSpPr>
          <p:cNvPr id="20" name="Oval 19"/>
          <p:cNvSpPr/>
          <p:nvPr/>
        </p:nvSpPr>
        <p:spPr>
          <a:xfrm>
            <a:off x="9031224" y="1362456"/>
            <a:ext cx="393192" cy="393192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9049512" y="1380744"/>
            <a:ext cx="356616" cy="356616"/>
          </a:xfrm>
          <a:prstGeom prst="arc">
            <a:avLst>
              <a:gd name="adj1" fmla="val -9000000"/>
              <a:gd name="adj2" fmla="val 7200000"/>
            </a:avLst>
          </a:prstGeom>
          <a:noFill/>
          <a:ln w="304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952" y="1496141"/>
            <a:ext cx="1737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1224" y="1810512"/>
            <a:ext cx="39319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连续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2286000"/>
            <a:ext cx="2020824" cy="530352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377440"/>
            <a:ext cx="6400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2F6F63"/>
                </a:solidFill>
                <a:latin typeface="Microsoft YaHei"/>
              </a:rPr>
              <a:t>现在做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551176"/>
            <a:ext cx="155448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F2933"/>
                </a:solidFill>
                <a:latin typeface="Microsoft YaHei"/>
              </a:rPr>
              <a:t>整理项目汇报材料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478024"/>
            <a:ext cx="566928" cy="182880"/>
          </a:xfrm>
          <a:prstGeom prst="roundRect">
            <a:avLst/>
          </a:prstGeom>
          <a:solidFill>
            <a:srgbClr val="D8EFE5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F6F63"/>
                </a:solidFill>
                <a:latin typeface="Microsoft YaHei"/>
              </a:rPr>
              <a:t>42 分钟</a:t>
            </a:r>
          </a:p>
        </p:txBody>
      </p:sp>
      <p:sp>
        <p:nvSpPr>
          <p:cNvPr id="28" name="Oval 27"/>
          <p:cNvSpPr/>
          <p:nvPr/>
        </p:nvSpPr>
        <p:spPr>
          <a:xfrm>
            <a:off x="7616952" y="3118104"/>
            <a:ext cx="73152" cy="7315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4968" y="304495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逾期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11896" y="3035808"/>
            <a:ext cx="116128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11896" y="3035808"/>
            <a:ext cx="32004" cy="210312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3088386"/>
            <a:ext cx="101498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3" name="Oval 32"/>
          <p:cNvSpPr/>
          <p:nvPr/>
        </p:nvSpPr>
        <p:spPr>
          <a:xfrm>
            <a:off x="7616952" y="3557016"/>
            <a:ext cx="73152" cy="7315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4968" y="348386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今天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1896" y="3474720"/>
            <a:ext cx="116128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11896" y="3474720"/>
            <a:ext cx="32004" cy="21031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3527298"/>
            <a:ext cx="101498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8" name="Oval 37"/>
          <p:cNvSpPr/>
          <p:nvPr/>
        </p:nvSpPr>
        <p:spPr>
          <a:xfrm>
            <a:off x="7616952" y="3995928"/>
            <a:ext cx="73152" cy="73152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4968" y="39227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稍后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3913632"/>
            <a:ext cx="116128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11896" y="3913632"/>
            <a:ext cx="32004" cy="210312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3966210"/>
            <a:ext cx="101498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5486400"/>
            <a:ext cx="4041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1">
                <a:solidFill>
                  <a:srgbClr val="2F6F63"/>
                </a:solidFill>
                <a:latin typeface="Microsoft YaHei"/>
              </a:rPr>
              <a:t>今日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6252" y="5486400"/>
            <a:ext cx="4041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看板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0417" y="5486400"/>
            <a:ext cx="4041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日历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4582" y="5486400"/>
            <a:ext cx="4041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任务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8747" y="5486400"/>
            <a:ext cx="4041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我的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22592" y="1060704"/>
            <a:ext cx="91440" cy="4526280"/>
          </a:xfrm>
          <a:prstGeom prst="roundRect">
            <a:avLst/>
          </a:prstGeom>
          <a:solidFill>
            <a:srgbClr val="2F6F63"/>
          </a:solidFill>
          <a:ln w="1016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60533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9AA3A0"/>
                </a:solidFill>
                <a:latin typeface="Microsoft YaHei"/>
              </a:rPr>
              <a:t>PRODUCT CASE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为什么普通待办不够用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Todo 工具的关键问题，不是缺少任务入口，而是缺少“下一步决策”。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3127248" cy="2212848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029968"/>
            <a:ext cx="118872" cy="11887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75104"/>
            <a:ext cx="2615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任务越记越多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04288"/>
            <a:ext cx="2615184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记录成本很低，但整理成本持续升高。用户打开清单后，面对的是一个越来越长的任务池。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828800"/>
            <a:ext cx="3127248" cy="2212848"/>
          </a:xfrm>
          <a:prstGeom prst="roundRect">
            <a:avLst/>
          </a:prstGeom>
          <a:solidFill>
            <a:srgbClr val="ECF1FA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029968"/>
            <a:ext cx="118872" cy="118872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975104"/>
            <a:ext cx="2615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优先级难判断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8"/>
            <a:ext cx="2615184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用户知道“要做”，但常常不知道“先做哪个”。重要度、截止时间、任务复杂度混在一起。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828800"/>
            <a:ext cx="3127248" cy="2212848"/>
          </a:xfrm>
          <a:prstGeom prst="roundRect">
            <a:avLst/>
          </a:prstGeom>
          <a:solidFill>
            <a:srgbClr val="FEF4E4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02996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75104"/>
            <a:ext cx="2615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状态被忽略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04288"/>
            <a:ext cx="2615184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精力、压力、环境和时间窗口会影响执行质量，但多数待办工具只处理任务本身。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3856" y="4864608"/>
            <a:ext cx="99212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0749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F6F63"/>
                </a:solidFill>
                <a:latin typeface="Microsoft YaHei"/>
              </a:rPr>
              <a:t>设计判断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0566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待办清单的下一步不是更快录入，而是帮助用户把任务池转译成当前可执行的行动。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PRODUCT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把待办系统做成决策系统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产品目标围绕“捕捉、理解、推荐、复盘”展开，形成可持续的任务管理闭环。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3474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773936"/>
            <a:ext cx="118872" cy="11887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捕捉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48256"/>
            <a:ext cx="2962656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快速记录任务与备注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487168"/>
            <a:ext cx="3474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88336"/>
            <a:ext cx="118872" cy="118872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33472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62656"/>
            <a:ext cx="2962656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识别分类、截止日期、复杂度、重要度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01568"/>
            <a:ext cx="3474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0273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47872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77056"/>
            <a:ext cx="2962656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结合认知状态计算下一步任务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15968"/>
            <a:ext cx="3474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17136"/>
            <a:ext cx="118872" cy="11887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62272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91456"/>
            <a:ext cx="2962656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用数据回看完成率、习惯、认知负荷趋势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6368" y="1581912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1714500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2F6F63"/>
                </a:solidFill>
                <a:latin typeface="Microsoft YaHei"/>
              </a:rPr>
              <a:t>输入任务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2992" y="2336292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4432" y="2468880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4D65A8"/>
                </a:solidFill>
                <a:latin typeface="Microsoft YaHei"/>
              </a:rPr>
              <a:t>智能分析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2992" y="3845052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4432" y="3977639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59E0B"/>
                </a:solidFill>
                <a:latin typeface="Microsoft YaHei"/>
              </a:rPr>
              <a:t>推荐行动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16368" y="4599432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8" y="4732020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B45347"/>
                </a:solidFill>
                <a:latin typeface="Microsoft YaHei"/>
              </a:rPr>
              <a:t>执行反馈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9743" y="3845052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1183" y="3977640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4D65A8"/>
                </a:solidFill>
                <a:latin typeface="Microsoft YaHei"/>
              </a:rPr>
              <a:t>数据洞察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9743" y="2336291"/>
            <a:ext cx="106070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1183" y="2468879"/>
            <a:ext cx="87782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2F6F63"/>
                </a:solidFill>
                <a:latin typeface="Microsoft YaHei"/>
              </a:rPr>
              <a:t>优化安排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86442" y="1979218"/>
            <a:ext cx="627180" cy="362103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53344" y="2929737"/>
            <a:ext cx="0" cy="724205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386442" y="4242358"/>
            <a:ext cx="627180" cy="362103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7079817" y="4242358"/>
            <a:ext cx="627180" cy="362103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40095" y="2929737"/>
            <a:ext cx="0" cy="724205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079817" y="1979218"/>
            <a:ext cx="627180" cy="362103"/>
          </a:xfrm>
          <a:prstGeom prst="line">
            <a:avLst/>
          </a:prstGeom>
          <a:ln w="1270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903720" y="2907792"/>
            <a:ext cx="2286000" cy="658368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6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3035808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F63"/>
                </a:solidFill>
                <a:latin typeface="Microsoft YaHei"/>
              </a:rPr>
              <a:t>降低选择成本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产品能力地图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核心能力围绕 Smart Todo Engine 组织，外层承接用户的记录、执行、复盘和提醒。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450592"/>
            <a:ext cx="2514600" cy="749808"/>
          </a:xfrm>
          <a:prstGeom prst="roundRect">
            <a:avLst/>
          </a:prstGeom>
          <a:solidFill>
            <a:srgbClr val="2F6F63"/>
          </a:solidFill>
          <a:ln w="1016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7488" y="267004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Smart Todo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600200"/>
            <a:ext cx="109728" cy="109728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15361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今日页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76479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任务分组 / 当前推荐 / 快速捕捉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56815" y="1792224"/>
            <a:ext cx="4096513" cy="1033272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0752" y="114300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77056" y="1325880"/>
            <a:ext cx="109728" cy="109728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9936" y="126187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AI 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149047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对话 / 任务提取 / 目标拆解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1517904"/>
            <a:ext cx="1280160" cy="1307592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65392" y="114300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11696" y="13258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126187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智能日程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49047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按优先级和认知负荷安排时间段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053328" y="1517904"/>
            <a:ext cx="1554480" cy="1307592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35440" y="141732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81744" y="1600200"/>
            <a:ext cx="109728" cy="109728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153619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看板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176479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待处理 / 进行中 / 已完成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053328" y="1792224"/>
            <a:ext cx="4224528" cy="1033272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35440" y="406908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81744" y="4251960"/>
            <a:ext cx="109728" cy="109728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418795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日历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441655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截止日期与计划任务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6053328" y="2825496"/>
            <a:ext cx="4224528" cy="1618488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34340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11696" y="45262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4576" y="446227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统计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4576" y="469087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周报 / 趋势 / 热力图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6053328" y="2825496"/>
            <a:ext cx="1554480" cy="1892808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30752" y="434340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877056" y="4526280"/>
            <a:ext cx="109728" cy="109728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59936" y="446227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洞察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9936" y="469087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认知负荷 / 微习惯建议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773168" y="2825496"/>
            <a:ext cx="1280160" cy="1892808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4400" y="4069080"/>
            <a:ext cx="2084831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0704" y="425196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584" y="4187952"/>
            <a:ext cx="1554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1F2933"/>
                </a:solidFill>
                <a:latin typeface="Microsoft YaHei"/>
              </a:rPr>
              <a:t>倒计时提醒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3584" y="4416552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6B7280"/>
                </a:solidFill>
                <a:latin typeface="Microsoft YaHei"/>
              </a:rPr>
              <a:t>重要日期与通知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956815" y="2825496"/>
            <a:ext cx="4096513" cy="1618488"/>
          </a:xfrm>
          <a:prstGeom prst="line">
            <a:avLst/>
          </a:prstGeom>
          <a:ln w="889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从入口到决策的页面结构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首页承接高频执行，看板承接状态流转，统计与洞察承接低频复盘。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72768"/>
            <a:ext cx="102870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108960" cy="512064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99339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F6F63"/>
                </a:solidFill>
                <a:latin typeface="Microsoft YaHei"/>
              </a:rPr>
              <a:t>智能 TodoLife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2788920"/>
            <a:ext cx="1234440" cy="512064"/>
          </a:xfrm>
          <a:prstGeom prst="roundRect">
            <a:avLst/>
          </a:prstGeom>
          <a:solidFill>
            <a:srgbClr val="F8FAF9"/>
          </a:solidFill>
          <a:ln w="10160">
            <a:solidFill>
              <a:srgbClr val="D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9443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F6F63"/>
                </a:solidFill>
                <a:latin typeface="Microsoft YaHei"/>
              </a:rPr>
              <a:t>今日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30552" y="2340864"/>
            <a:ext cx="3950208" cy="448056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79" y="2788920"/>
            <a:ext cx="1234440" cy="512064"/>
          </a:xfrm>
          <a:prstGeom prst="roundRect">
            <a:avLst/>
          </a:prstGeom>
          <a:solidFill>
            <a:srgbClr val="F8FAF9"/>
          </a:solidFill>
          <a:ln w="10160">
            <a:solidFill>
              <a:srgbClr val="D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9443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4D65A8"/>
                </a:solidFill>
                <a:latin typeface="Microsoft YaHei"/>
              </a:rPr>
              <a:t>看板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005072" y="2340864"/>
            <a:ext cx="2075688" cy="448056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2788920"/>
            <a:ext cx="1234440" cy="512064"/>
          </a:xfrm>
          <a:prstGeom prst="roundRect">
            <a:avLst/>
          </a:prstGeom>
          <a:solidFill>
            <a:srgbClr val="F8FAF9"/>
          </a:solidFill>
          <a:ln w="10160">
            <a:solidFill>
              <a:srgbClr val="D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9443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Microsoft YaHei"/>
              </a:rPr>
              <a:t>日历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879592" y="2340864"/>
            <a:ext cx="201168" cy="448056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19" y="2788920"/>
            <a:ext cx="1234440" cy="512064"/>
          </a:xfrm>
          <a:prstGeom prst="roundRect">
            <a:avLst/>
          </a:prstGeom>
          <a:solidFill>
            <a:srgbClr val="F8FAF9"/>
          </a:solidFill>
          <a:ln w="10160">
            <a:solidFill>
              <a:srgbClr val="D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29443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B45347"/>
                </a:solidFill>
                <a:latin typeface="Microsoft YaHei"/>
              </a:rPr>
              <a:t>任务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340864"/>
            <a:ext cx="1673351" cy="448056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06840" y="2788920"/>
            <a:ext cx="1234440" cy="512064"/>
          </a:xfrm>
          <a:prstGeom prst="roundRect">
            <a:avLst/>
          </a:prstGeom>
          <a:solidFill>
            <a:srgbClr val="F8FAF9"/>
          </a:solidFill>
          <a:ln w="10160">
            <a:solidFill>
              <a:srgbClr val="D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944368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6E6E6E"/>
                </a:solidFill>
                <a:latin typeface="Microsoft YaHei"/>
              </a:rPr>
              <a:t>我的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340864"/>
            <a:ext cx="3547872" cy="448056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508760" y="4224528"/>
            <a:ext cx="1234440" cy="329184"/>
          </a:xfrm>
          <a:prstGeom prst="roundRect">
            <a:avLst/>
          </a:prstGeom>
          <a:solidFill>
            <a:srgbClr val="F6F8F7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4D65A8"/>
                </a:solidFill>
                <a:latin typeface="Microsoft YaHei"/>
              </a:rPr>
              <a:t>AI 助手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30552" y="3300984"/>
            <a:ext cx="0" cy="9235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83279" y="4224528"/>
            <a:ext cx="1234440" cy="329184"/>
          </a:xfrm>
          <a:prstGeom prst="roundRect">
            <a:avLst/>
          </a:prstGeom>
          <a:solidFill>
            <a:srgbClr val="F6F8F7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2F6F63"/>
                </a:solidFill>
                <a:latin typeface="Microsoft YaHei"/>
              </a:rPr>
              <a:t>新建任务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05072" y="3300984"/>
            <a:ext cx="0" cy="9235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57800" y="4224528"/>
            <a:ext cx="1234440" cy="329184"/>
          </a:xfrm>
          <a:prstGeom prst="roundRect">
            <a:avLst/>
          </a:prstGeom>
          <a:solidFill>
            <a:srgbClr val="F6F8F7"/>
          </a:solidFill>
          <a:ln w="889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B45347"/>
                </a:solidFill>
                <a:latin typeface="Microsoft YaHei"/>
              </a:rPr>
              <a:t>高级洞察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9592" y="3300984"/>
            <a:ext cx="0" cy="9235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32319" y="4224528"/>
            <a:ext cx="1234440" cy="329184"/>
          </a:xfrm>
          <a:prstGeom prst="roundRect">
            <a:avLst/>
          </a:prstGeom>
          <a:solidFill>
            <a:srgbClr val="F6F8F7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F59E0B"/>
                </a:solidFill>
                <a:latin typeface="Microsoft YaHei"/>
              </a:rPr>
              <a:t>统计页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54111" y="3300984"/>
            <a:ext cx="0" cy="9235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06840" y="4224528"/>
            <a:ext cx="1234440" cy="329184"/>
          </a:xfrm>
          <a:prstGeom prst="roundRect">
            <a:avLst/>
          </a:prstGeom>
          <a:solidFill>
            <a:srgbClr val="F6F8F7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6E6E6E"/>
                </a:solidFill>
                <a:latin typeface="Microsoft YaHei"/>
              </a:rPr>
              <a:t>倒计时页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28632" y="3300984"/>
            <a:ext cx="0" cy="9235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45920" y="507492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F63"/>
                </a:solidFill>
                <a:latin typeface="Microsoft YaHei"/>
              </a:rPr>
              <a:t>高频执行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507492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4D65A8"/>
                </a:solidFill>
                <a:latin typeface="Microsoft YaHei"/>
              </a:rPr>
              <a:t>状态流转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7492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59E0B"/>
                </a:solidFill>
                <a:latin typeface="Microsoft YaHei"/>
              </a:rPr>
              <a:t>时间管理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1504" y="507492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45347"/>
                </a:solidFill>
                <a:latin typeface="Microsoft YaHei"/>
              </a:rPr>
              <a:t>低频复盘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任务不只是标题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SmartTask 把一个待办扩展为可排序、可拆解、可提醒、可复盘的行为单元。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8404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618488"/>
            <a:ext cx="118872" cy="11887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563624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基础信息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892808"/>
            <a:ext cx="3328416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标题、描述、分类、标签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03704"/>
            <a:ext cx="38404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2404872"/>
            <a:ext cx="118872" cy="118872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350008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执行信息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79192"/>
            <a:ext cx="3328416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预计时长、截止日期、提醒时间、子任务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90088"/>
            <a:ext cx="38404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19125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136392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决策信息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465576"/>
            <a:ext cx="3328416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重要度、复杂度、优先级、目标时间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76472"/>
            <a:ext cx="38404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977639"/>
            <a:ext cx="118872" cy="11887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3922776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状态信息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251960"/>
            <a:ext cx="3328416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Todo / In Progress / Done、完成时间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62856"/>
            <a:ext cx="38404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" y="4764024"/>
            <a:ext cx="118872" cy="118872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709160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习惯信息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5038344"/>
            <a:ext cx="3328416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是否习惯、连续天数、完成历史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298448"/>
            <a:ext cx="40690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1572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SmartTask 卡片剖面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9984" y="2029968"/>
            <a:ext cx="3246120" cy="4389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9984" y="2029968"/>
            <a:ext cx="32004" cy="43891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2139696"/>
            <a:ext cx="3099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72491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72491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STUDY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84848" y="2926080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84848" y="3081528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estimatedMinutes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081528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90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84848" y="3282696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84848" y="3438144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dueDate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438144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2026-06-20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84848" y="3639312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84848" y="3794760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priority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794760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HIGH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84848" y="3995928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84848" y="4151376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151376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IN_PROGRESS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84848" y="4352544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784848" y="450799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subtasks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50799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3 / 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84848" y="4709159"/>
            <a:ext cx="3136392" cy="0"/>
          </a:xfrm>
          <a:prstGeom prst="line">
            <a:avLst/>
          </a:prstGeom>
          <a:ln w="508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AI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从一句话变成可执行计划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远程大模型优先，本地启发式方案兜底；AI 失败时核心拆解仍然可用。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39696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F6F63"/>
                </a:solidFill>
                <a:latin typeface="Microsoft YaHei"/>
              </a:rPr>
              <a:t>用户输入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140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B7280"/>
                </a:solidFill>
                <a:latin typeface="Microsoft YaHei"/>
              </a:rPr>
              <a:t>下周五前完成论文初稿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395728"/>
            <a:ext cx="457200" cy="0"/>
          </a:xfrm>
          <a:prstGeom prst="line">
            <a:avLst/>
          </a:prstGeom>
          <a:ln w="1524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1938528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139696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4D65A8"/>
                </a:solidFill>
                <a:latin typeface="Microsoft YaHei"/>
              </a:rPr>
              <a:t>DueDateParser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4140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解析截止日期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2395728"/>
            <a:ext cx="457200" cy="0"/>
          </a:xfrm>
          <a:prstGeom prst="line">
            <a:avLst/>
          </a:prstGeom>
          <a:ln w="1524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1938528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2139696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59E0B"/>
                </a:solidFill>
                <a:latin typeface="Microsoft YaHei"/>
              </a:rPr>
              <a:t>SmartTaskEngine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4140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推断分类 / 复杂度 / 时长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395728"/>
            <a:ext cx="457200" cy="0"/>
          </a:xfrm>
          <a:prstGeom prst="line">
            <a:avLst/>
          </a:prstGeom>
          <a:ln w="15240">
            <a:solidFill>
              <a:srgbClr val="B9C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1938528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139696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B45347"/>
                </a:solidFill>
                <a:latin typeface="Microsoft YaHei"/>
              </a:rPr>
              <a:t>AI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414016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拆解子任务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977639"/>
            <a:ext cx="84582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0624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2933"/>
                </a:solidFill>
                <a:latin typeface="Microsoft YaHei"/>
              </a:rPr>
              <a:t>生成带计划日期的任务清单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12848" y="4590288"/>
            <a:ext cx="1207008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2848" y="4590288"/>
            <a:ext cx="32004" cy="310896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668012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F2933"/>
                </a:solidFill>
                <a:latin typeface="Microsoft YaHei"/>
              </a:rPr>
              <a:t>资料调研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1136" y="49560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90" b="0">
                <a:solidFill>
                  <a:srgbClr val="6B7280"/>
                </a:solidFill>
                <a:latin typeface="Microsoft YaHei"/>
              </a:rPr>
              <a:t>6/10 · 45 分钟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4590288"/>
            <a:ext cx="1207008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4590288"/>
            <a:ext cx="32004" cy="310896"/>
          </a:xfrm>
          <a:prstGeom prst="rect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1" y="4668012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F2933"/>
                </a:solidFill>
                <a:latin typeface="Microsoft YaHei"/>
              </a:rPr>
              <a:t>梳理大纲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49560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90" b="0">
                <a:solidFill>
                  <a:srgbClr val="6B7280"/>
                </a:solidFill>
                <a:latin typeface="Microsoft YaHei"/>
              </a:rPr>
              <a:t>6/12 · 40 分钟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85231" y="4590288"/>
            <a:ext cx="1207008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5231" y="4590288"/>
            <a:ext cx="32004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58383" y="4668012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F2933"/>
                </a:solidFill>
                <a:latin typeface="Microsoft YaHei"/>
              </a:rPr>
              <a:t>撰写初稿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9560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90" b="0">
                <a:solidFill>
                  <a:srgbClr val="6B7280"/>
                </a:solidFill>
                <a:latin typeface="Microsoft YaHei"/>
              </a:rPr>
              <a:t>6/15 · 90 分钟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21424" y="4590288"/>
            <a:ext cx="1207008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21424" y="4590288"/>
            <a:ext cx="32004" cy="310896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4668012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F2933"/>
                </a:solidFill>
                <a:latin typeface="Microsoft YaHei"/>
              </a:rPr>
              <a:t>修改完善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9560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90" b="0">
                <a:solidFill>
                  <a:srgbClr val="6B7280"/>
                </a:solidFill>
                <a:latin typeface="Microsoft YaHei"/>
              </a:rPr>
              <a:t>6/18 · 60 分钟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4590288"/>
            <a:ext cx="1207008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7616" y="4590288"/>
            <a:ext cx="32004" cy="31089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8" y="4668012"/>
            <a:ext cx="106070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F2933"/>
                </a:solidFill>
                <a:latin typeface="Microsoft YaHei"/>
              </a:rPr>
              <a:t>排版检查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49560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90" b="0">
                <a:solidFill>
                  <a:srgbClr val="6B7280"/>
                </a:solidFill>
                <a:latin typeface="Microsoft YaHei"/>
              </a:rPr>
              <a:t>6/20 · 30 分钟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COGNITIVE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让任务安排适配人的状态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认知负荷不是装饰性指标，它决定界面是否需要收敛，以及任务是否适合现在推进。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27632"/>
            <a:ext cx="2606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828800"/>
            <a:ext cx="118872" cy="11887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773936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视觉负荷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103120"/>
            <a:ext cx="20939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活跃任务数量、分类分散度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627632"/>
            <a:ext cx="2606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96511" y="1828800"/>
            <a:ext cx="118872" cy="118872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773936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记忆负荷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103120"/>
            <a:ext cx="20939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高复杂任务数量、当前专注度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98064"/>
            <a:ext cx="2606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299923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944368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时间压力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273552"/>
            <a:ext cx="20939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临近目标时间任务、压力水平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798064"/>
            <a:ext cx="2606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96511" y="2999232"/>
            <a:ext cx="118872" cy="11887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944368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决策疲劳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3273552"/>
            <a:ext cx="20939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任务总量、压力、精力状态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481328"/>
            <a:ext cx="640080" cy="256032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F6F63"/>
                </a:solidFill>
                <a:latin typeface="Microsoft YaHei"/>
              </a:rPr>
              <a:t>低负荷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1481328"/>
            <a:ext cx="640080" cy="256032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D3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D3A700"/>
                </a:solidFill>
                <a:latin typeface="Microsoft YaHei"/>
              </a:rPr>
              <a:t>平衡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1481328"/>
            <a:ext cx="640080" cy="256032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59E0B"/>
                </a:solidFill>
                <a:latin typeface="Microsoft YaHei"/>
              </a:rPr>
              <a:t>高负荷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481328"/>
            <a:ext cx="640080" cy="256032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B45347"/>
                </a:solidFill>
                <a:latin typeface="Microsoft YaHei"/>
              </a:rPr>
              <a:t>过载</a:t>
            </a:r>
          </a:p>
        </p:txBody>
      </p:sp>
      <p:sp>
        <p:nvSpPr>
          <p:cNvPr id="28" name="Diamond 27"/>
          <p:cNvSpPr/>
          <p:nvPr/>
        </p:nvSpPr>
        <p:spPr>
          <a:xfrm>
            <a:off x="8348472" y="2496312"/>
            <a:ext cx="640080" cy="640080"/>
          </a:xfrm>
          <a:prstGeom prst="diamond">
            <a:avLst/>
          </a:prstGeom>
          <a:noFill/>
          <a:ln w="889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8028432" y="2176272"/>
            <a:ext cx="1280160" cy="1280160"/>
          </a:xfrm>
          <a:prstGeom prst="diamond">
            <a:avLst/>
          </a:prstGeom>
          <a:noFill/>
          <a:ln w="889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7708392" y="1856232"/>
            <a:ext cx="1920240" cy="1920240"/>
          </a:xfrm>
          <a:prstGeom prst="diamond">
            <a:avLst/>
          </a:prstGeom>
          <a:noFill/>
          <a:ln w="889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8668512" y="1700784"/>
            <a:ext cx="0" cy="1115568"/>
          </a:xfrm>
          <a:prstGeom prst="line">
            <a:avLst/>
          </a:prstGeom>
          <a:ln w="7620">
            <a:solidFill>
              <a:srgbClr val="D9E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68512" y="2816352"/>
            <a:ext cx="1115568" cy="0"/>
          </a:xfrm>
          <a:prstGeom prst="line">
            <a:avLst/>
          </a:prstGeom>
          <a:ln w="7620">
            <a:solidFill>
              <a:srgbClr val="D9E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68512" y="2816352"/>
            <a:ext cx="0" cy="1115568"/>
          </a:xfrm>
          <a:prstGeom prst="line">
            <a:avLst/>
          </a:prstGeom>
          <a:ln w="7620">
            <a:solidFill>
              <a:srgbClr val="D9E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52944" y="2816352"/>
            <a:ext cx="1115568" cy="0"/>
          </a:xfrm>
          <a:prstGeom prst="line">
            <a:avLst/>
          </a:prstGeom>
          <a:ln w="7620">
            <a:solidFill>
              <a:srgbClr val="D9E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046720" y="2066544"/>
            <a:ext cx="1489558" cy="1251814"/>
          </a:xfrm>
          <a:custGeom>
            <a:avLst/>
            <a:gdLst/>
            <a:ahLst/>
            <a:cxnLst/>
            <a:rect l="l" t="t" r="r" b="b"/>
            <a:pathLst>
              <a:path w="1629" h="1369">
                <a:moveTo>
                  <a:pt x="679" y="0"/>
                </a:moveTo>
                <a:lnTo>
                  <a:pt x="1629" y="819"/>
                </a:lnTo>
                <a:lnTo>
                  <a:pt x="679" y="1369"/>
                </a:lnTo>
                <a:lnTo>
                  <a:pt x="0" y="819"/>
                </a:lnTo>
                <a:close/>
              </a:path>
            </a:pathLst>
          </a:custGeom>
          <a:solidFill>
            <a:srgbClr val="A7D7CA"/>
          </a:solidFill>
          <a:ln w="1651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" y="5074920"/>
            <a:ext cx="9966960" cy="548640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61872" y="5276088"/>
            <a:ext cx="92354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F6F63"/>
                </a:solidFill>
                <a:latin typeface="Microsoft YaHei"/>
              </a:rPr>
              <a:t>当系统判断负荷偏高时，会切换到更简洁的专注视图，减少用户继续筛选任务的成本。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PRIORITY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下一步推荐不是随机排序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推荐分数同时考虑任务本身和用户状态，避免在高压力、低精力时强推高复杂任务。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1859280" cy="384048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185928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36%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7960" y="1847088"/>
            <a:ext cx="15494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7960" y="1975104"/>
            <a:ext cx="154940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7360" y="1847088"/>
            <a:ext cx="1032933" cy="384048"/>
          </a:xfrm>
          <a:prstGeom prst="rect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7360" y="1975104"/>
            <a:ext cx="1032933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10293" y="1847088"/>
            <a:ext cx="723053" cy="384048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0293" y="1975104"/>
            <a:ext cx="723053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14%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3346" y="1847088"/>
            <a:ext cx="413173" cy="384048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3346" y="1975104"/>
            <a:ext cx="413173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761488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39" y="28712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重要度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286207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2F6F63"/>
                </a:solidFill>
                <a:latin typeface="Microsoft YaHei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39" y="313639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7280"/>
                </a:solidFill>
                <a:latin typeface="Microsoft YaHei"/>
              </a:rPr>
              <a:t>任务价值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2761488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79" y="28712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紧急度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86207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79" y="313639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7280"/>
                </a:solidFill>
                <a:latin typeface="Microsoft YaHei"/>
              </a:rPr>
              <a:t>目标时间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2761488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8712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能力匹配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286207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4D65A8"/>
                </a:solidFill>
                <a:latin typeface="Microsoft YaHei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13639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7280"/>
                </a:solidFill>
                <a:latin typeface="Microsoft YaHei"/>
              </a:rPr>
              <a:t>专注与精力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675887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39" y="3785615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复杂度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377647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B45347"/>
                </a:solidFill>
                <a:latin typeface="Microsoft YaHei"/>
              </a:rPr>
              <a:t>14%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" y="4050791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7280"/>
                </a:solidFill>
                <a:latin typeface="Microsoft YaHei"/>
              </a:rPr>
              <a:t>执行难度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3675887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79" y="3785615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习惯加成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377647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6E6E6E"/>
                </a:solidFill>
                <a:latin typeface="Microsoft YaHei"/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79" y="4050791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7280"/>
                </a:solidFill>
                <a:latin typeface="Microsoft YaHei"/>
              </a:rPr>
              <a:t>连续性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1828800"/>
            <a:ext cx="320040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213969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F63"/>
                </a:solidFill>
                <a:latin typeface="Microsoft YaHei"/>
              </a:rPr>
              <a:t>现在做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整理项目汇报材料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2871216"/>
            <a:ext cx="804672" cy="274320"/>
          </a:xfrm>
          <a:prstGeom prst="roundRect">
            <a:avLst/>
          </a:prstGeom>
          <a:solidFill>
            <a:srgbClr val="E9F5F0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F6F63"/>
                </a:solidFill>
                <a:latin typeface="Microsoft YaHei"/>
              </a:rPr>
              <a:t>42 分钟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7072" y="2871216"/>
            <a:ext cx="960120" cy="274320"/>
          </a:xfrm>
          <a:prstGeom prst="roundRect">
            <a:avLst/>
          </a:prstGeom>
          <a:solidFill>
            <a:srgbClr val="ECF1FA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4D65A8"/>
                </a:solidFill>
                <a:latin typeface="Microsoft YaHei"/>
              </a:rPr>
              <a:t>推荐分 82.4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364992"/>
            <a:ext cx="248716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B7280"/>
                </a:solidFill>
                <a:latin typeface="Microsoft YaHei"/>
              </a:rPr>
              <a:t>主要因为重要度高、距离目标时间较近，同时当前专注与精力能够承载中等复杂任务。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EISENHOWER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把任务池变成行动策略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系统不只是分类任务，还把每一类转译成可执行策略。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B7280"/>
                </a:solidFill>
                <a:latin typeface="Microsoft YaHei"/>
              </a:rPr>
              <a:t>重要程度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56509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6B7280"/>
                </a:solidFill>
                <a:latin typeface="Microsoft YaHei"/>
              </a:rPr>
              <a:t>紧急程度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72768" y="1508760"/>
            <a:ext cx="3886200" cy="1755648"/>
          </a:xfrm>
          <a:prstGeom prst="roundRect">
            <a:avLst/>
          </a:prstGeom>
          <a:solidFill>
            <a:srgbClr val="FAEEEC"/>
          </a:solidFill>
          <a:ln w="1016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2224" y="1673351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5347"/>
                </a:solidFill>
                <a:latin typeface="Microsoft YaHei"/>
              </a:rPr>
              <a:t>重要且紧急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655063"/>
            <a:ext cx="960120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B45347"/>
                </a:solidFill>
                <a:latin typeface="Microsoft YaHei"/>
              </a:rPr>
              <a:t>立即做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198424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优先清空，避免扩散为风险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9656" y="2313432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9656" y="2313432"/>
            <a:ext cx="32004" cy="256032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2807" y="2377439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今晚前提交论文修改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386584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30 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9656" y="2697479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9656" y="2697479"/>
            <a:ext cx="32004" cy="256032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761487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客户方案最终确认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770632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45 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1508760"/>
            <a:ext cx="3886200" cy="1755648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673351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F6F63"/>
                </a:solidFill>
                <a:latin typeface="Microsoft YaHei"/>
              </a:rPr>
              <a:t>重要不紧急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1352" y="1655063"/>
            <a:ext cx="960120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F6F63"/>
                </a:solidFill>
                <a:latin typeface="Microsoft YaHei"/>
              </a:rPr>
              <a:t>计划做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984248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投入收益最高，安排专注时段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313432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313432"/>
            <a:ext cx="32004" cy="25603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377439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386584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30 分钟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697479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697479"/>
            <a:ext cx="32004" cy="25603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2761487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复盘本周学习计划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770632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45 分钟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72768" y="3694176"/>
            <a:ext cx="3886200" cy="1755648"/>
          </a:xfrm>
          <a:prstGeom prst="roundRect">
            <a:avLst/>
          </a:prstGeom>
          <a:solidFill>
            <a:srgbClr val="FEF4E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92224" y="3858768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Microsoft YaHei"/>
              </a:rPr>
              <a:t>紧急不重要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87368" y="3840480"/>
            <a:ext cx="960120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59E0B"/>
                </a:solidFill>
                <a:latin typeface="Microsoft YaHei"/>
              </a:rPr>
              <a:t>限时做 / 委托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92224" y="4169664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快速处理，不占用深度精力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19656" y="4498848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19656" y="4498848"/>
            <a:ext cx="32004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92807" y="4562856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回复群内确认消息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9976" y="4572000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30 分钟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19656" y="4882896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19656" y="4882896"/>
            <a:ext cx="32004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946904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整理临时会议纪要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9976" y="4956048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45 分钟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16752" y="3694176"/>
            <a:ext cx="3886200" cy="1755648"/>
          </a:xfrm>
          <a:prstGeom prst="roundRect">
            <a:avLst/>
          </a:prstGeom>
          <a:solidFill>
            <a:srgbClr val="F1F2F3"/>
          </a:solidFill>
          <a:ln w="1016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858768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6E6E"/>
                </a:solidFill>
                <a:latin typeface="Microsoft YaHei"/>
              </a:rPr>
              <a:t>不重要不紧急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31352" y="3840480"/>
            <a:ext cx="960120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6E6E6E"/>
                </a:solidFill>
                <a:latin typeface="Microsoft YaHei"/>
              </a:rPr>
              <a:t>删除 / 批处理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4169664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6B7280"/>
                </a:solidFill>
                <a:latin typeface="Microsoft YaHei"/>
              </a:rPr>
              <a:t>减少噪音，降低任务池负担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498848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4498848"/>
            <a:ext cx="32004" cy="256032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562856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清理低优先级收藏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572000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30 分钟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882896"/>
            <a:ext cx="324612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4882896"/>
            <a:ext cx="32004" cy="256032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6792" y="4946904"/>
            <a:ext cx="309981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1F2933"/>
                </a:solidFill>
                <a:latin typeface="Microsoft YaHei"/>
              </a:rPr>
              <a:t>批量整理截图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4956048"/>
            <a:ext cx="56692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580" b="0">
                <a:solidFill>
                  <a:srgbClr val="6B7280"/>
                </a:solidFill>
                <a:latin typeface="Microsoft YaHei"/>
              </a:rPr>
              <a:t>45 分钟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TODAY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首页只回答一个问题：现在做什么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首页不是信息越多越好，而是把用户从“选择任务”带到“开始行动”。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234440"/>
            <a:ext cx="2331720" cy="4892040"/>
          </a:xfrm>
          <a:prstGeom prst="round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3392" y="1344168"/>
            <a:ext cx="2185415" cy="4672583"/>
          </a:xfrm>
          <a:prstGeom prst="roundRect">
            <a:avLst/>
          </a:prstGeom>
          <a:solidFill>
            <a:srgbClr val="FB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1490472"/>
            <a:ext cx="1929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今日</a:t>
            </a:r>
          </a:p>
        </p:txBody>
      </p:sp>
      <p:sp>
        <p:nvSpPr>
          <p:cNvPr id="11" name="Oval 10"/>
          <p:cNvSpPr/>
          <p:nvPr/>
        </p:nvSpPr>
        <p:spPr>
          <a:xfrm>
            <a:off x="2273808" y="1883664"/>
            <a:ext cx="374904" cy="374904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2292096" y="1901952"/>
            <a:ext cx="338328" cy="338328"/>
          </a:xfrm>
          <a:prstGeom prst="arc">
            <a:avLst>
              <a:gd name="adj1" fmla="val -9000000"/>
              <a:gd name="adj2" fmla="val 15400000"/>
            </a:avLst>
          </a:prstGeom>
          <a:noFill/>
          <a:ln w="3048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3536" y="2011131"/>
            <a:ext cx="155448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3808" y="2313432"/>
            <a:ext cx="3749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完成</a:t>
            </a:r>
          </a:p>
        </p:txBody>
      </p:sp>
      <p:sp>
        <p:nvSpPr>
          <p:cNvPr id="15" name="Oval 14"/>
          <p:cNvSpPr/>
          <p:nvPr/>
        </p:nvSpPr>
        <p:spPr>
          <a:xfrm>
            <a:off x="2898648" y="1883664"/>
            <a:ext cx="374904" cy="374904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2916936" y="1901952"/>
            <a:ext cx="338328" cy="338328"/>
          </a:xfrm>
          <a:prstGeom prst="arc">
            <a:avLst>
              <a:gd name="adj1" fmla="val -9000000"/>
              <a:gd name="adj2" fmla="val 16900000"/>
            </a:avLst>
          </a:prstGeom>
          <a:noFill/>
          <a:ln w="3048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011131"/>
            <a:ext cx="155448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313432"/>
            <a:ext cx="3749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专注</a:t>
            </a:r>
          </a:p>
        </p:txBody>
      </p:sp>
      <p:sp>
        <p:nvSpPr>
          <p:cNvPr id="19" name="Oval 18"/>
          <p:cNvSpPr/>
          <p:nvPr/>
        </p:nvSpPr>
        <p:spPr>
          <a:xfrm>
            <a:off x="3523488" y="1883664"/>
            <a:ext cx="374904" cy="374904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3541776" y="1901952"/>
            <a:ext cx="338328" cy="338328"/>
          </a:xfrm>
          <a:prstGeom prst="arc">
            <a:avLst>
              <a:gd name="adj1" fmla="val -9000000"/>
              <a:gd name="adj2" fmla="val 7200000"/>
            </a:avLst>
          </a:prstGeom>
          <a:noFill/>
          <a:ln w="304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3216" y="2011131"/>
            <a:ext cx="155448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3488" y="2313432"/>
            <a:ext cx="3749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连续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21408" y="2807208"/>
            <a:ext cx="1929384" cy="530352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67712" y="2898648"/>
            <a:ext cx="6400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2F6F63"/>
                </a:solidFill>
                <a:latin typeface="Microsoft YaHei"/>
              </a:rPr>
              <a:t>现在做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072384"/>
            <a:ext cx="146303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F2933"/>
                </a:solidFill>
                <a:latin typeface="Microsoft YaHei"/>
              </a:rPr>
              <a:t>整理项目汇报材料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2999232"/>
            <a:ext cx="566928" cy="182880"/>
          </a:xfrm>
          <a:prstGeom prst="roundRect">
            <a:avLst/>
          </a:prstGeom>
          <a:solidFill>
            <a:srgbClr val="D8EFE5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F6F63"/>
                </a:solidFill>
                <a:latin typeface="Microsoft YaHei"/>
              </a:rPr>
              <a:t>42 分钟</a:t>
            </a:r>
          </a:p>
        </p:txBody>
      </p:sp>
      <p:sp>
        <p:nvSpPr>
          <p:cNvPr id="27" name="Oval 26"/>
          <p:cNvSpPr/>
          <p:nvPr/>
        </p:nvSpPr>
        <p:spPr>
          <a:xfrm>
            <a:off x="2176272" y="3639312"/>
            <a:ext cx="73152" cy="7315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356616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逾期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71216" y="3557016"/>
            <a:ext cx="106984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71216" y="3557016"/>
            <a:ext cx="32004" cy="210312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3609594"/>
            <a:ext cx="92354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2" name="Oval 31"/>
          <p:cNvSpPr/>
          <p:nvPr/>
        </p:nvSpPr>
        <p:spPr>
          <a:xfrm>
            <a:off x="2176272" y="4078224"/>
            <a:ext cx="73152" cy="7315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400507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今天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71216" y="3995928"/>
            <a:ext cx="106984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71216" y="3995928"/>
            <a:ext cx="32004" cy="21031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4368" y="4048506"/>
            <a:ext cx="92354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7" name="Oval 36"/>
          <p:cNvSpPr/>
          <p:nvPr/>
        </p:nvSpPr>
        <p:spPr>
          <a:xfrm>
            <a:off x="2176272" y="4517136"/>
            <a:ext cx="73152" cy="73152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04288" y="444398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稍后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71216" y="4434840"/>
            <a:ext cx="1069848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71216" y="4434840"/>
            <a:ext cx="32004" cy="210312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4487418"/>
            <a:ext cx="923544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1408" y="5687567"/>
            <a:ext cx="38587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1">
                <a:solidFill>
                  <a:srgbClr val="2F6F63"/>
                </a:solidFill>
                <a:latin typeface="Microsoft YaHei"/>
              </a:rPr>
              <a:t>今日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7284" y="5687567"/>
            <a:ext cx="38587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看板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3161" y="5687567"/>
            <a:ext cx="38587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日历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9038" y="5687567"/>
            <a:ext cx="38587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任务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64915" y="5687567"/>
            <a:ext cx="38587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我的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1417320"/>
            <a:ext cx="42062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39512" y="1618488"/>
            <a:ext cx="118872" cy="11887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22392" y="1563624"/>
            <a:ext cx="3694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顶部活力环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22392" y="1892808"/>
            <a:ext cx="3694175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完成率 / 专注分 / 习惯连续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4370832" y="1554480"/>
            <a:ext cx="566927" cy="192024"/>
          </a:xfrm>
          <a:prstGeom prst="line">
            <a:avLst/>
          </a:prstGeom>
          <a:ln w="1143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440680" y="2359152"/>
            <a:ext cx="42062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05272" y="2560320"/>
            <a:ext cx="118872" cy="118872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88152" y="2505456"/>
            <a:ext cx="3694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当前推荐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88152" y="2834640"/>
            <a:ext cx="3694175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把最该做的一件事压缩成高亮行动条</a:t>
            </a:r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4370832" y="2496312"/>
            <a:ext cx="932688" cy="192024"/>
          </a:xfrm>
          <a:prstGeom prst="line">
            <a:avLst/>
          </a:prstGeom>
          <a:ln w="1143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166360" y="3310128"/>
            <a:ext cx="42062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330952" y="351129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3832" y="3456432"/>
            <a:ext cx="3694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快速捕捉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13832" y="3785616"/>
            <a:ext cx="3694175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单行输入，输入后展开备注与解析标签</a:t>
            </a:r>
          </a:p>
        </p:txBody>
      </p:sp>
      <p:cxnSp>
        <p:nvCxnSpPr>
          <p:cNvPr id="61" name="Connector 60"/>
          <p:cNvCxnSpPr/>
          <p:nvPr/>
        </p:nvCxnSpPr>
        <p:spPr>
          <a:xfrm flipH="1" flipV="1">
            <a:off x="4370832" y="3447288"/>
            <a:ext cx="658368" cy="192024"/>
          </a:xfrm>
          <a:prstGeom prst="line">
            <a:avLst/>
          </a:prstGeom>
          <a:ln w="1143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800600" y="4315968"/>
            <a:ext cx="42062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965192" y="4517136"/>
            <a:ext cx="118872" cy="11887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48072" y="4462272"/>
            <a:ext cx="3694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2933"/>
                </a:solidFill>
                <a:latin typeface="Microsoft YaHei"/>
              </a:rPr>
              <a:t>状态与排程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48072" y="4791456"/>
            <a:ext cx="3694175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6B7280"/>
                </a:solidFill>
                <a:latin typeface="Microsoft YaHei"/>
              </a:rPr>
              <a:t>认知负荷、状态调节、智能时间段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4370832" y="4453128"/>
            <a:ext cx="292608" cy="192024"/>
          </a:xfrm>
          <a:prstGeom prst="line">
            <a:avLst/>
          </a:prstGeom>
          <a:ln w="11430">
            <a:solidFill>
              <a:srgbClr val="B45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MULTI-VIEW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不同阶段，用不同视图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今日、看板、日历与倒计时分别解决执行、推进和时间管理问题。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2184" y="1389888"/>
            <a:ext cx="1874519" cy="3977639"/>
          </a:xfrm>
          <a:prstGeom prst="round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45336" y="1499616"/>
            <a:ext cx="1728216" cy="3758183"/>
          </a:xfrm>
          <a:prstGeom prst="roundRect">
            <a:avLst/>
          </a:prstGeom>
          <a:solidFill>
            <a:srgbClr val="FB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1645920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今日</a:t>
            </a:r>
          </a:p>
        </p:txBody>
      </p:sp>
      <p:sp>
        <p:nvSpPr>
          <p:cNvPr id="11" name="Oval 10"/>
          <p:cNvSpPr/>
          <p:nvPr/>
        </p:nvSpPr>
        <p:spPr>
          <a:xfrm>
            <a:off x="1795271" y="2039112"/>
            <a:ext cx="283463" cy="283463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1813559" y="2057400"/>
            <a:ext cx="246887" cy="246887"/>
          </a:xfrm>
          <a:prstGeom prst="arc">
            <a:avLst>
              <a:gd name="adj1" fmla="val -9000000"/>
              <a:gd name="adj2" fmla="val 15400000"/>
            </a:avLst>
          </a:prstGeom>
          <a:noFill/>
          <a:ln w="3048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4999" y="2135489"/>
            <a:ext cx="64007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5271" y="2377440"/>
            <a:ext cx="2834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完成</a:t>
            </a:r>
          </a:p>
        </p:txBody>
      </p:sp>
      <p:sp>
        <p:nvSpPr>
          <p:cNvPr id="15" name="Oval 14"/>
          <p:cNvSpPr/>
          <p:nvPr/>
        </p:nvSpPr>
        <p:spPr>
          <a:xfrm>
            <a:off x="2267712" y="2039112"/>
            <a:ext cx="283463" cy="283463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2286000" y="2057400"/>
            <a:ext cx="246887" cy="246887"/>
          </a:xfrm>
          <a:prstGeom prst="arc">
            <a:avLst>
              <a:gd name="adj1" fmla="val -9000000"/>
              <a:gd name="adj2" fmla="val 16900000"/>
            </a:avLst>
          </a:prstGeom>
          <a:noFill/>
          <a:ln w="3048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135489"/>
            <a:ext cx="64007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2377440"/>
            <a:ext cx="2834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专注</a:t>
            </a:r>
          </a:p>
        </p:txBody>
      </p:sp>
      <p:sp>
        <p:nvSpPr>
          <p:cNvPr id="19" name="Oval 18"/>
          <p:cNvSpPr/>
          <p:nvPr/>
        </p:nvSpPr>
        <p:spPr>
          <a:xfrm>
            <a:off x="2740152" y="2039112"/>
            <a:ext cx="283463" cy="283463"/>
          </a:xfrm>
          <a:prstGeom prst="ellipse">
            <a:avLst/>
          </a:prstGeom>
          <a:solidFill>
            <a:srgbClr val="F1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758440" y="2057400"/>
            <a:ext cx="246887" cy="246887"/>
          </a:xfrm>
          <a:prstGeom prst="arc">
            <a:avLst>
              <a:gd name="adj1" fmla="val -9000000"/>
              <a:gd name="adj2" fmla="val 7200000"/>
            </a:avLst>
          </a:prstGeom>
          <a:noFill/>
          <a:ln w="304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9880" y="2135489"/>
            <a:ext cx="64007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1F2933"/>
                </a:solidFill>
                <a:latin typeface="Microsoft YaHei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0152" y="2377440"/>
            <a:ext cx="2834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50" b="0">
                <a:solidFill>
                  <a:srgbClr val="6B7280"/>
                </a:solidFill>
                <a:latin typeface="Microsoft YaHei"/>
              </a:rPr>
              <a:t>连续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73352" y="2962656"/>
            <a:ext cx="1472184" cy="530352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19656" y="3054096"/>
            <a:ext cx="6400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2F6F63"/>
                </a:solidFill>
                <a:latin typeface="Microsoft YaHei"/>
              </a:rPr>
              <a:t>现在做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3227832"/>
            <a:ext cx="100583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F2933"/>
                </a:solidFill>
                <a:latin typeface="Microsoft YaHei"/>
              </a:rPr>
              <a:t>整理项目汇报材料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6584" y="3154680"/>
            <a:ext cx="566928" cy="182880"/>
          </a:xfrm>
          <a:prstGeom prst="roundRect">
            <a:avLst/>
          </a:prstGeom>
          <a:solidFill>
            <a:srgbClr val="D8EFE5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F6F63"/>
                </a:solidFill>
                <a:latin typeface="Microsoft YaHei"/>
              </a:rPr>
              <a:t>42 分钟</a:t>
            </a:r>
          </a:p>
        </p:txBody>
      </p:sp>
      <p:sp>
        <p:nvSpPr>
          <p:cNvPr id="27" name="Oval 26"/>
          <p:cNvSpPr/>
          <p:nvPr/>
        </p:nvSpPr>
        <p:spPr>
          <a:xfrm>
            <a:off x="1728216" y="3794760"/>
            <a:ext cx="73152" cy="73152"/>
          </a:xfrm>
          <a:prstGeom prst="ellipse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56232" y="372160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逾期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3712464"/>
            <a:ext cx="612647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23160" y="3712464"/>
            <a:ext cx="32004" cy="210312"/>
          </a:xfrm>
          <a:prstGeom prst="rect">
            <a:avLst/>
          </a:prstGeom>
          <a:solidFill>
            <a:srgbClr val="B4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96312" y="3765042"/>
            <a:ext cx="466343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2" name="Oval 31"/>
          <p:cNvSpPr/>
          <p:nvPr/>
        </p:nvSpPr>
        <p:spPr>
          <a:xfrm>
            <a:off x="1728216" y="4233672"/>
            <a:ext cx="73152" cy="73152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6232" y="416052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今天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4151376"/>
            <a:ext cx="612647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23160" y="4151376"/>
            <a:ext cx="32004" cy="210312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312" y="4203954"/>
            <a:ext cx="466343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37" name="Oval 36"/>
          <p:cNvSpPr/>
          <p:nvPr/>
        </p:nvSpPr>
        <p:spPr>
          <a:xfrm>
            <a:off x="1728216" y="4672584"/>
            <a:ext cx="73152" cy="73152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56232" y="459943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1">
                <a:solidFill>
                  <a:srgbClr val="1F2933"/>
                </a:solidFill>
                <a:latin typeface="Microsoft YaHei"/>
              </a:rPr>
              <a:t>稍后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23160" y="4590288"/>
            <a:ext cx="612647" cy="210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3160" y="4590288"/>
            <a:ext cx="32004" cy="210312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96312" y="4642866"/>
            <a:ext cx="466343" cy="105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1F2933"/>
                </a:solidFill>
                <a:latin typeface="Microsoft YaHei"/>
              </a:rPr>
              <a:t>完成期末论文初稿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3352" y="4928615"/>
            <a:ext cx="2944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1">
                <a:solidFill>
                  <a:srgbClr val="2F6F63"/>
                </a:solidFill>
                <a:latin typeface="Microsoft YaHei"/>
              </a:rPr>
              <a:t>今日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7788" y="4928615"/>
            <a:ext cx="2944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看板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2225" y="4928615"/>
            <a:ext cx="2944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日历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56662" y="4928615"/>
            <a:ext cx="2944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任务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1099" y="4928615"/>
            <a:ext cx="294436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" b="0">
                <a:solidFill>
                  <a:srgbClr val="6B7280"/>
                </a:solidFill>
                <a:latin typeface="Microsoft YaHei"/>
              </a:rPr>
              <a:t>我的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20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F6F63"/>
                </a:solidFill>
                <a:latin typeface="Microsoft YaHei"/>
              </a:rPr>
              <a:t>今日视图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806440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>
                <a:solidFill>
                  <a:srgbClr val="6B7280"/>
                </a:solidFill>
                <a:latin typeface="Microsoft YaHei"/>
              </a:rPr>
              <a:t>面向执行，按逾期 / 今天 / 稍后组织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75504" y="1389888"/>
            <a:ext cx="1874519" cy="3977639"/>
          </a:xfrm>
          <a:prstGeom prst="round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48656" y="1499616"/>
            <a:ext cx="1728216" cy="3758183"/>
          </a:xfrm>
          <a:prstGeom prst="roundRect">
            <a:avLst/>
          </a:prstGeom>
          <a:solidFill>
            <a:srgbClr val="FB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76672" y="1645920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看板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76672" y="2048256"/>
            <a:ext cx="411479" cy="2651759"/>
          </a:xfrm>
          <a:prstGeom prst="roundRect">
            <a:avLst/>
          </a:prstGeom>
          <a:solidFill>
            <a:srgbClr val="F5F7F6"/>
          </a:solidFill>
          <a:ln w="10160">
            <a:solidFill>
              <a:srgbClr val="E2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9824" y="2176272"/>
            <a:ext cx="26517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 b="1">
                <a:solidFill>
                  <a:srgbClr val="2F6F63"/>
                </a:solidFill>
                <a:latin typeface="Microsoft YaHei"/>
              </a:rPr>
              <a:t>待处理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49824" y="245059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49824" y="2450591"/>
            <a:ext cx="32004" cy="246888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22976" y="251231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49824" y="281635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49824" y="2816351"/>
            <a:ext cx="32004" cy="246888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22976" y="287807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49824" y="318211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49824" y="3182111"/>
            <a:ext cx="32004" cy="246888"/>
          </a:xfrm>
          <a:prstGeom prst="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22976" y="324383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43016" y="2048256"/>
            <a:ext cx="411479" cy="2651759"/>
          </a:xfrm>
          <a:prstGeom prst="roundRect">
            <a:avLst/>
          </a:prstGeom>
          <a:solidFill>
            <a:srgbClr val="F5F7F6"/>
          </a:solidFill>
          <a:ln w="10160">
            <a:solidFill>
              <a:srgbClr val="E2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16168" y="2176272"/>
            <a:ext cx="26517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 b="1">
                <a:solidFill>
                  <a:srgbClr val="F59E0B"/>
                </a:solidFill>
                <a:latin typeface="Microsoft YaHei"/>
              </a:rPr>
              <a:t>进行中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16168" y="245059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16168" y="2450591"/>
            <a:ext cx="32004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89320" y="251231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16168" y="281635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16168" y="2816351"/>
            <a:ext cx="32004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9320" y="287807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59" y="2048256"/>
            <a:ext cx="411479" cy="2651759"/>
          </a:xfrm>
          <a:prstGeom prst="roundRect">
            <a:avLst/>
          </a:prstGeom>
          <a:solidFill>
            <a:srgbClr val="F5F7F6"/>
          </a:solidFill>
          <a:ln w="10160">
            <a:solidFill>
              <a:srgbClr val="E2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82512" y="2176272"/>
            <a:ext cx="265175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 b="1">
                <a:solidFill>
                  <a:srgbClr val="4D65A8"/>
                </a:solidFill>
                <a:latin typeface="Microsoft YaHei"/>
              </a:rPr>
              <a:t>已完成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82512" y="2450591"/>
            <a:ext cx="265175" cy="2468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82512" y="2450591"/>
            <a:ext cx="32004" cy="246888"/>
          </a:xfrm>
          <a:prstGeom prst="rect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5664" y="2512313"/>
            <a:ext cx="118871" cy="123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>
                <a:solidFill>
                  <a:srgbClr val="1F2933"/>
                </a:solidFill>
                <a:latin typeface="Microsoft YaHei"/>
              </a:rPr>
              <a:t>任务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5532120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D65A8"/>
                </a:solidFill>
                <a:latin typeface="Microsoft YaHei"/>
              </a:rPr>
              <a:t>看板视图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5806440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>
                <a:solidFill>
                  <a:srgbClr val="6B7280"/>
                </a:solidFill>
                <a:latin typeface="Microsoft YaHei"/>
              </a:rPr>
              <a:t>面向推进，待处理 / 进行中 / 已完成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78824" y="1389888"/>
            <a:ext cx="1874519" cy="3977639"/>
          </a:xfrm>
          <a:prstGeom prst="round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951976" y="1499616"/>
            <a:ext cx="1728216" cy="3758183"/>
          </a:xfrm>
          <a:prstGeom prst="roundRect">
            <a:avLst/>
          </a:prstGeom>
          <a:solidFill>
            <a:srgbClr val="FB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79992" y="1645920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2933"/>
                </a:solidFill>
                <a:latin typeface="Microsoft YaHei"/>
              </a:rPr>
              <a:t>日历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07424" y="2121408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381744" y="2121408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56064" y="2121408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930384" y="2121408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204704" y="2121408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479024" y="2121408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753344" y="2121408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10742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38174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65606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930384" y="2377440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20470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47902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753344" y="2377440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107424" y="2633472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381744" y="2633472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656064" y="2633472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930384" y="2633472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204704" y="2633472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479024" y="2633472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753344" y="2633472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107424" y="2889504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9381744" y="2889504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656064" y="2889504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930384" y="2889504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204704" y="2889504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0479024" y="2889504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753344" y="2889504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107424" y="3145536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381744" y="3145536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656064" y="3145536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930384" y="3145536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204704" y="3145536"/>
            <a:ext cx="201168" cy="182880"/>
          </a:xfrm>
          <a:prstGeom prst="roundRect">
            <a:avLst/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479024" y="3145536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0753344" y="3145536"/>
            <a:ext cx="201168" cy="182880"/>
          </a:xfrm>
          <a:prstGeom prst="roundRect">
            <a:avLst/>
          </a:prstGeom>
          <a:solidFill>
            <a:srgbClr val="F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9107424" y="3721608"/>
            <a:ext cx="1417319" cy="685800"/>
          </a:xfrm>
          <a:prstGeom prst="roundRect">
            <a:avLst/>
          </a:prstGeom>
          <a:solidFill>
            <a:srgbClr val="FEF4E4"/>
          </a:solidFill>
          <a:ln w="10160">
            <a:solidFill>
              <a:srgbClr val="F2D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62872" y="385876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F59E0B"/>
                </a:solidFill>
                <a:latin typeface="Microsoft YaHei"/>
              </a:rPr>
              <a:t>倒计时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62872" y="4087368"/>
            <a:ext cx="110642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F2933"/>
                </a:solidFill>
                <a:latin typeface="Microsoft YaHei"/>
              </a:rPr>
              <a:t>期末汇报 5 天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66760" y="5532120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Microsoft YaHei"/>
              </a:rPr>
              <a:t>日历与倒计时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66760" y="5806440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>
                <a:solidFill>
                  <a:srgbClr val="6B7280"/>
                </a:solidFill>
                <a:latin typeface="Microsoft YaHei"/>
              </a:rPr>
              <a:t>面向时间，管理截止日期和重要节点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复盘不是报表，是下一轮安排的依据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统计页帮助用户发现负荷高峰、低效时间段和稳定习惯，而不是展示复杂 BI 大屏。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10716768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0078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2933"/>
                </a:solidFill>
                <a:latin typeface="Microsoft YaHei"/>
              </a:rPr>
              <a:t>周报摘要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057400"/>
            <a:ext cx="969264" cy="658368"/>
          </a:xfrm>
          <a:prstGeom prst="roundRect">
            <a:avLst/>
          </a:prstGeom>
          <a:solidFill>
            <a:srgbClr val="F7FAF8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9692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F63"/>
                </a:solidFill>
                <a:latin typeface="Microsoft YaHei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59736"/>
            <a:ext cx="96926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280"/>
                </a:solidFill>
                <a:latin typeface="Microsoft YaHei"/>
              </a:rPr>
              <a:t>完成率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057400"/>
            <a:ext cx="969264" cy="658368"/>
          </a:xfrm>
          <a:prstGeom prst="roundRect">
            <a:avLst/>
          </a:prstGeom>
          <a:solidFill>
            <a:srgbClr val="F7FAF8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212848"/>
            <a:ext cx="9692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4D65A8"/>
                </a:solidFill>
                <a:latin typeface="Microsoft YaHei"/>
              </a:rPr>
              <a:t>17/25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59736"/>
            <a:ext cx="96926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280"/>
                </a:solidFill>
                <a:latin typeface="Microsoft YaHei"/>
              </a:rPr>
              <a:t>已完成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057400"/>
            <a:ext cx="969264" cy="658368"/>
          </a:xfrm>
          <a:prstGeom prst="roundRect">
            <a:avLst/>
          </a:prstGeom>
          <a:solidFill>
            <a:srgbClr val="F7FAF8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12848"/>
            <a:ext cx="9692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</a:rPr>
              <a:t>上升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59736"/>
            <a:ext cx="96926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6B7280"/>
                </a:solidFill>
                <a:latin typeface="Microsoft YaHei"/>
              </a:rPr>
              <a:t>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6324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2933"/>
                </a:solidFill>
                <a:latin typeface="Microsoft YaHei"/>
              </a:rPr>
              <a:t>完成率趋势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364992"/>
            <a:ext cx="34747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161288" y="3575304"/>
            <a:ext cx="3255263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61288" y="3764584"/>
            <a:ext cx="3255263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61288" y="3953865"/>
            <a:ext cx="3255263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1288" y="4143146"/>
            <a:ext cx="3255263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29537" y="3943350"/>
            <a:ext cx="416967" cy="178765"/>
          </a:xfrm>
          <a:prstGeom prst="line">
            <a:avLst/>
          </a:prstGeom>
          <a:ln w="2159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46504" y="3943350"/>
            <a:ext cx="486460" cy="73609"/>
          </a:xfrm>
          <a:prstGeom prst="line">
            <a:avLst/>
          </a:prstGeom>
          <a:ln w="2159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232964" y="3733038"/>
            <a:ext cx="555956" cy="283921"/>
          </a:xfrm>
          <a:prstGeom prst="line">
            <a:avLst/>
          </a:prstGeom>
          <a:ln w="2159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3733038"/>
            <a:ext cx="625449" cy="94640"/>
          </a:xfrm>
          <a:prstGeom prst="line">
            <a:avLst/>
          </a:prstGeom>
          <a:ln w="2159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414369" y="3617366"/>
            <a:ext cx="555955" cy="210312"/>
          </a:xfrm>
          <a:prstGeom prst="line">
            <a:avLst/>
          </a:prstGeom>
          <a:ln w="21590">
            <a:solidFill>
              <a:srgbClr val="2F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306677" y="4099255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23644" y="3920489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10104" y="3994099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6060" y="3710178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91509" y="3804818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47464" y="3594506"/>
            <a:ext cx="45720" cy="45720"/>
          </a:xfrm>
          <a:prstGeom prst="ellipse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9472" y="17007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2933"/>
                </a:solidFill>
                <a:latin typeface="Microsoft YaHei"/>
              </a:rPr>
              <a:t>时间分布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9472" y="205740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2F6F63"/>
                </a:solidFill>
                <a:latin typeface="Microsoft YaHei"/>
              </a:rPr>
              <a:t>工作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9592" y="205740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4D65A8"/>
                </a:solidFill>
                <a:latin typeface="Microsoft YaHei"/>
              </a:rPr>
              <a:t>学习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19472" y="246888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B45347"/>
                </a:solidFill>
                <a:latin typeface="Microsoft YaHei"/>
              </a:rPr>
              <a:t>健康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9592" y="246888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8B5CF6"/>
                </a:solidFill>
                <a:latin typeface="Microsoft YaHei"/>
              </a:rPr>
              <a:t>生活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19472" y="288036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59E0B"/>
                </a:solidFill>
                <a:latin typeface="Microsoft YaHei"/>
              </a:rPr>
              <a:t>协作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79592" y="2880360"/>
            <a:ext cx="74980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EC4899"/>
                </a:solidFill>
                <a:latin typeface="Microsoft YaHei"/>
              </a:rPr>
              <a:t>创作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1700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2933"/>
                </a:solidFill>
                <a:latin typeface="Microsoft YaHei"/>
              </a:rPr>
              <a:t>认知负荷曲线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2057400"/>
            <a:ext cx="2971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424927" y="2267712"/>
            <a:ext cx="2752345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4927" y="2456992"/>
            <a:ext cx="2752345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24927" y="2646273"/>
            <a:ext cx="2752345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24927" y="2835554"/>
            <a:ext cx="2752345" cy="0"/>
          </a:xfrm>
          <a:prstGeom prst="line">
            <a:avLst/>
          </a:prstGeom>
          <a:ln w="5080">
            <a:solidFill>
              <a:srgbClr val="ECEF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552944" y="2635758"/>
            <a:ext cx="356616" cy="178765"/>
          </a:xfrm>
          <a:prstGeom prst="line">
            <a:avLst/>
          </a:prstGeom>
          <a:ln w="2159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909560" y="2635758"/>
            <a:ext cx="416052" cy="73609"/>
          </a:xfrm>
          <a:prstGeom prst="line">
            <a:avLst/>
          </a:prstGeom>
          <a:ln w="2159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325612" y="2425446"/>
            <a:ext cx="475488" cy="283921"/>
          </a:xfrm>
          <a:prstGeom prst="line">
            <a:avLst/>
          </a:prstGeom>
          <a:ln w="2159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801100" y="2425446"/>
            <a:ext cx="534924" cy="94640"/>
          </a:xfrm>
          <a:prstGeom prst="line">
            <a:avLst/>
          </a:prstGeom>
          <a:ln w="2159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336024" y="2309774"/>
            <a:ext cx="475488" cy="210312"/>
          </a:xfrm>
          <a:prstGeom prst="line">
            <a:avLst/>
          </a:prstGeom>
          <a:ln w="21590">
            <a:solidFill>
              <a:srgbClr val="4D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530083" y="2791663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86700" y="2612898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02752" y="2686507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778240" y="2402586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13164" y="2497226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88652" y="2286914"/>
            <a:ext cx="45720" cy="45720"/>
          </a:xfrm>
          <a:prstGeom prst="ellipse">
            <a:avLst/>
          </a:prstGeom>
          <a:solidFill>
            <a:srgbClr val="4D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19472" y="365760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2933"/>
                </a:solidFill>
                <a:latin typeface="Microsoft YaHei"/>
              </a:rPr>
              <a:t>习惯热力图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0" y="4005072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88636" y="4005072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39512" y="4005072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390388" y="4005072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41264" y="4005072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92140" y="4005072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843016" y="4005072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993892" y="4005072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144768" y="4005072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295644" y="4005072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46520" y="4005072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597396" y="4005072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748272" y="4005072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899148" y="4005072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050024" y="4005072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937760" y="4155948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88636" y="4155948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239512" y="4155948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390388" y="4155948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541264" y="4155948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692140" y="4155948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843016" y="4155948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993892" y="4155948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144768" y="4155948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295644" y="4155948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446520" y="4155948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597396" y="4155948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748272" y="4155948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899148" y="4155948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50024" y="4155948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937760" y="4306824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088636" y="4306824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239512" y="4306824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390388" y="4306824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541264" y="4306824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692140" y="4306824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843016" y="4306824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993892" y="4306824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144768" y="4306824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95644" y="4306824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446520" y="4306824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597396" y="4306824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748272" y="4306824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899148" y="4306824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050024" y="4306824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37760" y="4457700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088636" y="4457700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239512" y="4457700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390388" y="4457700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541264" y="4457700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692140" y="4457700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843016" y="4457700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993892" y="4457700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144768" y="4457700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295644" y="4457700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446520" y="4457700"/>
            <a:ext cx="118872" cy="118872"/>
          </a:xfrm>
          <a:prstGeom prst="roundRect">
            <a:avLst/>
          </a:prstGeom>
          <a:solidFill>
            <a:srgbClr val="2F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6597396" y="4457700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748272" y="4457700"/>
            <a:ext cx="118872" cy="118872"/>
          </a:xfrm>
          <a:prstGeom prst="roundRect">
            <a:avLst/>
          </a:prstGeom>
          <a:solidFill>
            <a:srgbClr val="C9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899148" y="4457700"/>
            <a:ext cx="118872" cy="118872"/>
          </a:xfrm>
          <a:prstGeom prst="round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050024" y="4457700"/>
            <a:ext cx="118872" cy="118872"/>
          </a:xfrm>
          <a:prstGeom prst="roundRect">
            <a:avLst/>
          </a:prstGeom>
          <a:solidFill>
            <a:srgbClr val="8F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0" y="365760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2933"/>
                </a:solidFill>
                <a:latin typeface="Microsoft YaHei"/>
              </a:rPr>
              <a:t>成就徽章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15200" y="3986784"/>
            <a:ext cx="148132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F6F63"/>
                </a:solidFill>
                <a:latin typeface="Microsoft YaHei"/>
              </a:rPr>
              <a:t>十项全能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315200" y="4425696"/>
            <a:ext cx="148132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59E0B"/>
                </a:solidFill>
                <a:latin typeface="Microsoft YaHei"/>
              </a:rPr>
              <a:t>一周习惯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315200" y="4864608"/>
            <a:ext cx="1481328" cy="274320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4D65A8"/>
                </a:solidFill>
                <a:latin typeface="Microsoft YaHei"/>
              </a:rPr>
              <a:t>低负荷管理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端侧为主，AI 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架构重点是本地稳定可用 + AI 能力增强；AI 失败时，本地规则仍能支撑核心任务拆解和推荐。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1435607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2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2F6F63"/>
                </a:solidFill>
                <a:latin typeface="Microsoft YaHei"/>
              </a:rPr>
              <a:t>UI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72184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Jetpack Compose / Material 3 / Screens / Components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1801368"/>
            <a:ext cx="0" cy="2377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039112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2148840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D65A8"/>
                </a:solidFill>
                <a:latin typeface="Microsoft YaHei"/>
              </a:rPr>
              <a:t>状态层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85416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ViewModel / StateFlow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514600"/>
            <a:ext cx="0" cy="2377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2752344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2862072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59E0B"/>
                </a:solidFill>
                <a:latin typeface="Microsoft YaHei"/>
              </a:rPr>
              <a:t>领域层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98648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SmartTaskEngine / CognitiveLoadEngine / StatisticsEngine / AchievementEngine / TaskCompletionEngine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3227832"/>
            <a:ext cx="0" cy="2377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465576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3575304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B4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B45347"/>
                </a:solidFill>
                <a:latin typeface="Microsoft YaHei"/>
              </a:rP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611880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Local Repository / Theme Preference / Countdown Repository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941064"/>
            <a:ext cx="0" cy="2377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178808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000" y="4288536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4D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D65A8"/>
                </a:solidFill>
                <a:latin typeface="Microsoft YaHei"/>
              </a:rPr>
              <a:t>AI 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325112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Remote AI Planner / Local AI Planner / AI Chat Client / DueDateParser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0" y="4654296"/>
            <a:ext cx="0" cy="237744"/>
          </a:xfrm>
          <a:prstGeom prst="line">
            <a:avLst/>
          </a:prstGeom>
          <a:ln w="10160">
            <a:solidFill>
              <a:srgbClr val="C7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892040"/>
            <a:ext cx="10058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000" y="5001768"/>
            <a:ext cx="987552" cy="237744"/>
          </a:xfrm>
          <a:prstGeom prst="roundRect">
            <a:avLst/>
          </a:prstGeom>
          <a:solidFill>
            <a:srgbClr val="F8FAF9"/>
          </a:solidFill>
          <a:ln w="889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6E6E6E"/>
                </a:solidFill>
                <a:latin typeface="Microsoft YaHei"/>
              </a:rPr>
              <a:t>系统能力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038344"/>
            <a:ext cx="7955279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3"/>
                </a:solidFill>
                <a:latin typeface="Microsoft YaHei"/>
              </a:rPr>
              <a:t>ReminderScheduler / Notification / BroadcastReceiver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5669280"/>
            <a:ext cx="9372600" cy="411480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5797296"/>
            <a:ext cx="864108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1">
                <a:solidFill>
                  <a:srgbClr val="2F6F63"/>
                </a:solidFill>
                <a:latin typeface="Microsoft YaHei"/>
              </a:rPr>
              <a:t>AI 能力作为增强层接入，不成为基础任务管理的单点依赖。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F63"/>
                </a:solidFill>
                <a:latin typeface="Microsoft YaHei"/>
              </a:rPr>
              <a:t>DESIGN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566928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2933"/>
                </a:solidFill>
                <a:latin typeface="Microsoft YaHei"/>
              </a:rPr>
              <a:t>智能 TodoLife 的设计价值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271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真正的效率工具，不是让用户管理更多事项，而是帮助用户在合适的时间做合适的事。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382512"/>
            <a:ext cx="10460736" cy="0"/>
          </a:xfrm>
          <a:prstGeom prst="line">
            <a:avLst/>
          </a:prstGeom>
          <a:ln w="7620">
            <a:solidFill>
              <a:srgbClr val="EAE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84280" y="645566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A7ADB2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1536192"/>
            <a:ext cx="918972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0992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F63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691639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从任务记录转向行动决策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" y="2377440"/>
            <a:ext cx="918972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5117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4D65A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53288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从固定清单转向状态自适应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3218688"/>
            <a:ext cx="918972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39242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37413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从单点 AI 转向可降级的智能流程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059936"/>
            <a:ext cx="918972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233672"/>
            <a:ext cx="457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B45347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421538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2933"/>
                </a:solidFill>
                <a:latin typeface="Microsoft YaHei"/>
              </a:rPr>
              <a:t>从完成任务转向长期行为洞察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285232"/>
            <a:ext cx="8138160" cy="603504"/>
          </a:xfrm>
          <a:prstGeom prst="roundRect">
            <a:avLst/>
          </a:prstGeom>
          <a:solidFill>
            <a:srgbClr val="E9F5F0"/>
          </a:solidFill>
          <a:ln w="10160">
            <a:solidFill>
              <a:srgbClr val="C7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5486400"/>
            <a:ext cx="7498079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F6F63"/>
                </a:solidFill>
                <a:latin typeface="Microsoft YaHei"/>
              </a:rPr>
              <a:t>把任务转译为行动策略，用数据反馈修正下一轮安排。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